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EEB137-D701-46FA-8F58-956A52171B84}" v="228" dt="2026-05-08T13:36:32.759"/>
    <p1510:client id="{C6B17F3B-1E60-DF8C-8FE1-DF778B045CBD}" v="219" dt="2026-05-08T15:39:05.44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EF8E7-F5C5-4EDE-B4A6-1E9DFC32F2B2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46239-4029-471A-A822-A41B2E27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247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46239-4029-471A-A822-A41B2E27B9C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43735"/>
                </a:solidFill>
                <a:latin typeface="Calibri"/>
                <a:cs typeface="Calibri"/>
              </a:defRPr>
            </a:lvl1pPr>
          </a:lstStyle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43735"/>
                </a:solidFill>
                <a:latin typeface="Calibri"/>
                <a:cs typeface="Calibri"/>
              </a:defRPr>
            </a:lvl1pPr>
          </a:lstStyle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43735"/>
                </a:solidFill>
                <a:latin typeface="Calibri"/>
                <a:cs typeface="Calibri"/>
              </a:defRPr>
            </a:lvl1pPr>
          </a:lstStyle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43735"/>
                </a:solidFill>
                <a:latin typeface="Calibri"/>
                <a:cs typeface="Calibri"/>
              </a:defRPr>
            </a:lvl1pPr>
          </a:lstStyle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43735"/>
                </a:solidFill>
                <a:latin typeface="Calibri"/>
                <a:cs typeface="Calibri"/>
              </a:defRPr>
            </a:lvl1pPr>
          </a:lstStyle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3695" y="125095"/>
            <a:ext cx="7177404" cy="992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557729"/>
            <a:ext cx="922782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51096" y="6496761"/>
            <a:ext cx="3006724" cy="2570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43735"/>
                </a:solidFill>
                <a:latin typeface="Calibri"/>
                <a:cs typeface="Calibri"/>
              </a:defRPr>
            </a:lvl1pPr>
          </a:lstStyle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770" y="6464680"/>
            <a:ext cx="1663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careindia.com/blog/20/best-tds-levels-for-drinking-water-in-india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csdt.org/culture/phempowered/simulato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7595" y="1569465"/>
            <a:ext cx="5003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5">
                <a:latin typeface="Times New Roman"/>
                <a:cs typeface="Times New Roman"/>
              </a:rPr>
              <a:t>STARTUP</a:t>
            </a:r>
            <a:r>
              <a:rPr sz="3200" b="1" spc="-165">
                <a:latin typeface="Times New Roman"/>
                <a:cs typeface="Times New Roman"/>
              </a:rPr>
              <a:t> </a:t>
            </a:r>
            <a:r>
              <a:rPr sz="3200" b="1" spc="-20">
                <a:latin typeface="Times New Roman"/>
                <a:cs typeface="Times New Roman"/>
              </a:rPr>
              <a:t>BATTLEFRONT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056" y="3261486"/>
            <a:ext cx="8962543" cy="262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spc="-35" dirty="0">
                <a:latin typeface="Arial"/>
                <a:cs typeface="Arial"/>
              </a:rPr>
              <a:t>Team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lang="en-IN" sz="2400" b="1" spc="-50" dirty="0">
                <a:latin typeface="Arial"/>
                <a:cs typeface="Arial"/>
              </a:rPr>
              <a:t>–</a:t>
            </a:r>
            <a:r>
              <a:rPr lang="en-GB" sz="2400" b="1" spc="-50" dirty="0">
                <a:latin typeface="Arial"/>
                <a:cs typeface="Arial"/>
              </a:rPr>
              <a:t> Quantum  Warrior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Idea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Title</a:t>
            </a:r>
            <a:r>
              <a:rPr lang="en-GB" sz="2400" b="1" spc="-10" dirty="0">
                <a:latin typeface="Arial"/>
                <a:cs typeface="Arial"/>
              </a:rPr>
              <a:t> </a:t>
            </a:r>
            <a:r>
              <a:rPr lang="en-IN" sz="2400" b="1" spc="-10" dirty="0">
                <a:latin typeface="Arial"/>
                <a:cs typeface="Arial"/>
              </a:rPr>
              <a:t>–</a:t>
            </a:r>
            <a:r>
              <a:rPr lang="en-GB" sz="2400" b="1" spc="-10" dirty="0">
                <a:latin typeface="Arial"/>
                <a:cs typeface="Arial"/>
              </a:rPr>
              <a:t>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Intelligent Water Security for a Thirsty Planet</a:t>
            </a:r>
          </a:p>
          <a:p>
            <a:pPr marL="299085" indent="-286385">
              <a:buFont typeface="Arial MT"/>
              <a:buChar char="•"/>
              <a:tabLst>
                <a:tab pos="299085" algn="l"/>
              </a:tabLst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lang="en-GB" sz="2400" b="1" dirty="0">
                <a:latin typeface="Arial"/>
                <a:cs typeface="Arial"/>
              </a:rPr>
              <a:t>Amritanshu Kishore &amp; 1OX24CS010</a:t>
            </a:r>
            <a:endParaRPr sz="2400" b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lang="en-GB" sz="2400" b="1" dirty="0">
                <a:latin typeface="Arial"/>
                <a:cs typeface="Arial"/>
              </a:rPr>
              <a:t>Goutam Parashuram Gotur &amp; 1OX24CS042</a:t>
            </a:r>
            <a:endParaRPr sz="2400" b="1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0330" y="2411348"/>
            <a:ext cx="2876550" cy="30099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76421"/>
              <a:ext cx="12189714" cy="4792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7052" y="6420606"/>
              <a:ext cx="2972561" cy="4351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354762"/>
              <a:ext cx="12192000" cy="50323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6043" y="135254"/>
            <a:ext cx="1066800" cy="10763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60952" y="56100"/>
            <a:ext cx="3469640" cy="11880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5"/>
              </a:spcBef>
            </a:pPr>
            <a:r>
              <a:rPr sz="1800" b="1" spc="-975">
                <a:latin typeface="Nirmala UI"/>
                <a:cs typeface="Nirmala UI"/>
              </a:rPr>
              <a:t>ಚಿಲ್ಡ್ರನ್ಸ್</a:t>
            </a:r>
            <a:r>
              <a:rPr sz="1800" b="1" spc="-55">
                <a:latin typeface="Nirmala UI"/>
                <a:cs typeface="Nirmala UI"/>
              </a:rPr>
              <a:t> </a:t>
            </a:r>
            <a:r>
              <a:rPr sz="1800" b="1" spc="-650">
                <a:latin typeface="Nirmala UI"/>
                <a:cs typeface="Nirmala UI"/>
              </a:rPr>
              <a:t>ಎಜುಕ'ೇಶನ್ಸ</a:t>
            </a:r>
            <a:r>
              <a:rPr sz="1800" b="1" spc="-20">
                <a:latin typeface="Nirmala UI"/>
                <a:cs typeface="Nirmala UI"/>
              </a:rPr>
              <a:t> </a:t>
            </a:r>
            <a:r>
              <a:rPr sz="1800" b="1" spc="-695">
                <a:latin typeface="Nirmala UI"/>
                <a:cs typeface="Nirmala UI"/>
              </a:rPr>
              <a:t>ಸ'ೊಸ'ೈಟಿ</a:t>
            </a:r>
            <a:endParaRPr sz="1800">
              <a:latin typeface="Nirmala UI"/>
              <a:cs typeface="Nirmala UI"/>
            </a:endParaRPr>
          </a:p>
          <a:p>
            <a:pPr algn="ctr">
              <a:lnSpc>
                <a:spcPts val="2035"/>
              </a:lnSpc>
              <a:spcBef>
                <a:spcPts val="254"/>
              </a:spcBef>
            </a:pPr>
            <a:r>
              <a:rPr sz="1800" b="1" spc="-10">
                <a:latin typeface="Calibri"/>
                <a:cs typeface="Calibri"/>
              </a:rPr>
              <a:t>Children’s</a:t>
            </a:r>
            <a:r>
              <a:rPr sz="1800" b="1" spc="-9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Education</a:t>
            </a:r>
            <a:r>
              <a:rPr sz="1800" b="1" spc="-60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Society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2035"/>
              </a:lnSpc>
            </a:pPr>
            <a:r>
              <a:rPr sz="1800" b="1" spc="-490">
                <a:latin typeface="Nirmala UI"/>
                <a:cs typeface="Nirmala UI"/>
              </a:rPr>
              <a:t>ದ</a:t>
            </a:r>
            <a:r>
              <a:rPr sz="1800" b="1" spc="-70">
                <a:latin typeface="Nirmala UI"/>
                <a:cs typeface="Nirmala UI"/>
              </a:rPr>
              <a:t> </a:t>
            </a:r>
            <a:r>
              <a:rPr sz="1800" b="1" spc="-865">
                <a:latin typeface="Nirmala UI"/>
                <a:cs typeface="Nirmala UI"/>
              </a:rPr>
              <a:t>ಆಕ್ಸ್ಫರ್ಡ್</a:t>
            </a:r>
            <a:r>
              <a:rPr sz="1800" b="1" spc="-55">
                <a:latin typeface="Nirmala UI"/>
                <a:cs typeface="Nirmala UI"/>
              </a:rPr>
              <a:t> </a:t>
            </a:r>
            <a:r>
              <a:rPr sz="1800" b="1" spc="-600">
                <a:latin typeface="Nirmala UI"/>
                <a:cs typeface="Nirmala UI"/>
              </a:rPr>
              <a:t>ಕಾಲ'ೇಜ್</a:t>
            </a:r>
            <a:r>
              <a:rPr sz="1800" b="1" spc="-85">
                <a:latin typeface="Nirmala UI"/>
                <a:cs typeface="Nirmala UI"/>
              </a:rPr>
              <a:t> </a:t>
            </a:r>
            <a:r>
              <a:rPr sz="1800" b="1" spc="-305">
                <a:latin typeface="Nirmala UI"/>
                <a:cs typeface="Nirmala UI"/>
              </a:rPr>
              <a:t>ಆಫ್</a:t>
            </a:r>
            <a:r>
              <a:rPr sz="1800" b="1" spc="-70">
                <a:latin typeface="Nirmala UI"/>
                <a:cs typeface="Nirmala UI"/>
              </a:rPr>
              <a:t> </a:t>
            </a:r>
            <a:r>
              <a:rPr sz="1800" b="1" spc="-434">
                <a:latin typeface="Nirmala UI"/>
                <a:cs typeface="Nirmala UI"/>
              </a:rPr>
              <a:t>ಇಂಜಿನಿಯರಂಗ್</a:t>
            </a:r>
            <a:endParaRPr sz="1800">
              <a:latin typeface="Nirmala UI"/>
              <a:cs typeface="Nirmala UI"/>
            </a:endParaRPr>
          </a:p>
          <a:p>
            <a:pPr marL="1905" algn="ctr">
              <a:lnSpc>
                <a:spcPct val="100000"/>
              </a:lnSpc>
              <a:spcBef>
                <a:spcPts val="254"/>
              </a:spcBef>
            </a:pPr>
            <a:r>
              <a:rPr sz="1800" b="1">
                <a:latin typeface="Calibri"/>
                <a:cs typeface="Calibri"/>
              </a:rPr>
              <a:t>The</a:t>
            </a:r>
            <a:r>
              <a:rPr sz="1800" b="1" spc="-35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Oxford</a:t>
            </a:r>
            <a:r>
              <a:rPr sz="1800" b="1" spc="-4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College</a:t>
            </a:r>
            <a:r>
              <a:rPr sz="1800" b="1" spc="-5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of</a:t>
            </a:r>
            <a:r>
              <a:rPr sz="1800" b="1" spc="-15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Engineering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1411" y="55975"/>
            <a:ext cx="6505052" cy="866519"/>
          </a:xfrm>
          <a:prstGeom prst="rect">
            <a:avLst/>
          </a:prstGeom>
        </p:spPr>
        <p:txBody>
          <a:bodyPr vert="horz" wrap="square" lIns="0" tIns="431419" rIns="0" bIns="0" rtlCol="0" anchor="t">
            <a:spAutoFit/>
          </a:bodyPr>
          <a:lstStyle/>
          <a:p>
            <a:pPr algn="ctr"/>
            <a:r>
              <a:rPr lang="en-US" sz="2800" b="0" spc="-20">
                <a:solidFill>
                  <a:srgbClr val="1F487C"/>
                </a:solidFill>
                <a:latin typeface="Calibri"/>
                <a:ea typeface="Calibri"/>
                <a:cs typeface="Calibri"/>
              </a:rPr>
              <a:t>Smart Detection for Unsafe Water</a:t>
            </a:r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234018" y="1214041"/>
            <a:ext cx="6320206" cy="216790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  <a:buSzPct val="96875"/>
            </a:pPr>
            <a:r>
              <a:rPr lang="en-US" sz="2000">
                <a:latin typeface="Times New Roman"/>
                <a:cs typeface="Times New Roman"/>
              </a:rPr>
              <a:t>1. </a:t>
            </a:r>
            <a:r>
              <a:rPr lang="en-US" sz="2000" b="1" dirty="0">
                <a:latin typeface="Times New Roman"/>
                <a:cs typeface="Times New Roman"/>
              </a:rPr>
              <a:t>Problem Statement: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br>
              <a:rPr lang="en-US" sz="2000" dirty="0">
                <a:latin typeface="Times New Roman"/>
                <a:cs typeface="Times New Roman"/>
              </a:rPr>
            </a:br>
            <a:r>
              <a:rPr lang="en-US" sz="2000" dirty="0">
                <a:latin typeface="Times New Roman"/>
                <a:cs typeface="Times New Roman"/>
              </a:rPr>
              <a:t>Unsafe &amp; Poor-Quality Drinking Water. Over 2 billion people lack access to safe water. Contamination, slow testing, and zero real-time monitoring put millions at daily risk.</a:t>
            </a:r>
            <a:endParaRPr lang="en-US" sz="2800" spc="-10" dirty="0">
              <a:solidFill>
                <a:srgbClr val="1F487C"/>
              </a:solidFill>
              <a:uFill>
                <a:solidFill>
                  <a:srgbClr val="1F487C"/>
                </a:solidFill>
              </a:u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Bacteria, heavy metals, chemical contamination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instant purity or mineral-level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testing: slow and expensive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82" y="135254"/>
            <a:ext cx="1066800" cy="10763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76421"/>
              <a:ext cx="12189714" cy="4792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7052" y="6420606"/>
              <a:ext cx="2972561" cy="4351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6354762"/>
              <a:ext cx="12192000" cy="50323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4D368C-8A0A-6569-B9BA-8954DF689535}"/>
              </a:ext>
            </a:extLst>
          </p:cNvPr>
          <p:cNvSpPr/>
          <p:nvPr/>
        </p:nvSpPr>
        <p:spPr>
          <a:xfrm>
            <a:off x="73739" y="3735698"/>
            <a:ext cx="3942413" cy="2384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b="1" dirty="0"/>
              <a:t>2. </a:t>
            </a:r>
            <a:r>
              <a:rPr lang="en-IN" sz="1800" b="1" dirty="0"/>
              <a:t>PROPOSED SOLUTION</a:t>
            </a:r>
          </a:p>
          <a:p>
            <a:endParaRPr lang="en-IN" sz="1800" dirty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Water Safety Detection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Refractive Index Analysis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Nutritional Mineral Detection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Water Level Monitoring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Real-Time IoT Alerts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F2CE5E-6152-3EC5-DA38-A631AA65EB36}"/>
              </a:ext>
            </a:extLst>
          </p:cNvPr>
          <p:cNvSpPr/>
          <p:nvPr/>
        </p:nvSpPr>
        <p:spPr>
          <a:xfrm>
            <a:off x="4122124" y="3735698"/>
            <a:ext cx="3942413" cy="2384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THE PROBLEM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Water Quality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Refractive Index (RI)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Nutritional Mineral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&amp; Scarcity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AI &amp; IoT Alerts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D752C9-F9D9-C644-AF4D-E2C284A360D9}"/>
              </a:ext>
            </a:extLst>
          </p:cNvPr>
          <p:cNvSpPr/>
          <p:nvPr/>
        </p:nvSpPr>
        <p:spPr>
          <a:xfrm>
            <a:off x="8170512" y="3757254"/>
            <a:ext cx="3942413" cy="2384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700" b="1" dirty="0"/>
              <a:t>4. INNOVATION &amp; UNIQUENESS OF THE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0" dirty="0"/>
              <a:t>6-Sensor Fusion: Biosensor, RI, pH</a:t>
            </a:r>
            <a:r>
              <a:rPr lang="en-GB" sz="1700" dirty="0"/>
              <a:t>, </a:t>
            </a:r>
            <a:r>
              <a:rPr lang="en-GB" sz="1700" b="0" dirty="0"/>
              <a:t>TDS</a:t>
            </a:r>
            <a:r>
              <a:rPr lang="en-GB" sz="1700" dirty="0"/>
              <a:t>, </a:t>
            </a:r>
            <a:r>
              <a:rPr lang="en-GB" sz="1700" b="0" dirty="0"/>
              <a:t>Turbidity, Level all in one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0" dirty="0"/>
              <a:t>RI Optical Sensing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0" dirty="0"/>
              <a:t>Fast, accurate impurity identification via refractive index</a:t>
            </a:r>
            <a:endParaRPr lang="en-GB" sz="1700" b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3DF01B-FEEF-4EA4-E37B-19F33B3F75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555" y="924259"/>
            <a:ext cx="5197773" cy="27412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990600">
              <a:lnSpc>
                <a:spcPct val="100000"/>
              </a:lnSpc>
              <a:spcBef>
                <a:spcPts val="100"/>
              </a:spcBef>
            </a:pPr>
            <a:r>
              <a:t>TECHNICAL</a:t>
            </a:r>
            <a:r>
              <a:rPr spc="-409"/>
              <a:t> </a:t>
            </a:r>
            <a:r>
              <a:rPr spc="-1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248" y="141478"/>
            <a:ext cx="1066799" cy="10763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391336"/>
            <a:ext cx="12192000" cy="503555"/>
            <a:chOff x="0" y="6354762"/>
            <a:chExt cx="12192000" cy="5035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76421"/>
              <a:ext cx="12189714" cy="4792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54762"/>
              <a:ext cx="12192000" cy="5032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12" name="Rectangle: Rounded Corners 11" descr="Hardware Technologies&#10;">
            <a:extLst>
              <a:ext uri="{FF2B5EF4-FFF2-40B4-BE49-F238E27FC236}">
                <a16:creationId xmlns:a16="http://schemas.microsoft.com/office/drawing/2014/main" id="{FBB46F18-3136-0C0D-95C3-F677CCD07BFC}"/>
              </a:ext>
            </a:extLst>
          </p:cNvPr>
          <p:cNvSpPr/>
          <p:nvPr/>
        </p:nvSpPr>
        <p:spPr>
          <a:xfrm>
            <a:off x="239842" y="1201752"/>
            <a:ext cx="5966086" cy="2485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 Technologies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EPS32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Biosensor (Combined)</a:t>
            </a: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Software Technologies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C/C++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Framework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19AE0C-7766-9B0F-228B-740710F3EB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16" y="1234667"/>
            <a:ext cx="3792512" cy="218141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139EAF-7B7F-5D5E-75D8-D44496D731FA}"/>
              </a:ext>
            </a:extLst>
          </p:cNvPr>
          <p:cNvSpPr/>
          <p:nvPr/>
        </p:nvSpPr>
        <p:spPr>
          <a:xfrm>
            <a:off x="7210481" y="3402464"/>
            <a:ext cx="3687581" cy="2347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 sensor used for water acidity and purity detection.</a:t>
            </a:r>
            <a:endParaRPr lang="en-IN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 descr="Hardware Technologies&#10;">
            <a:extLst>
              <a:ext uri="{FF2B5EF4-FFF2-40B4-BE49-F238E27FC236}">
                <a16:creationId xmlns:a16="http://schemas.microsoft.com/office/drawing/2014/main" id="{AF3038D1-D07C-DC31-4884-CC13392BA388}"/>
              </a:ext>
            </a:extLst>
          </p:cNvPr>
          <p:cNvSpPr/>
          <p:nvPr/>
        </p:nvSpPr>
        <p:spPr>
          <a:xfrm>
            <a:off x="148918" y="3779702"/>
            <a:ext cx="6108976" cy="2494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Process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Water sample enters sensing chamber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Sensors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pH, RI, TDS, Turbidity, Water Level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ESP32 collects sensor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Flask dashboard processes results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Final output: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Safe Water / Unsafe Water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DFC380-1500-A1E6-BF17-9B643EF091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468" y="3779702"/>
            <a:ext cx="4636672" cy="21814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5D853A9-01C9-7533-6C9F-6DE39DD65908}"/>
              </a:ext>
            </a:extLst>
          </p:cNvPr>
          <p:cNvSpPr/>
          <p:nvPr/>
        </p:nvSpPr>
        <p:spPr>
          <a:xfrm>
            <a:off x="7158016" y="6044882"/>
            <a:ext cx="4357285" cy="279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of smart biosensor-based water monitoring system.</a:t>
            </a:r>
            <a:endParaRPr lang="en-IN" sz="115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4235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4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VIABILITY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248" y="141478"/>
            <a:ext cx="1066799" cy="10763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375082"/>
            <a:ext cx="12192000" cy="483234"/>
            <a:chOff x="0" y="6375082"/>
            <a:chExt cx="12192000" cy="48323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96227"/>
              <a:ext cx="12189714" cy="4594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7052" y="6440427"/>
              <a:ext cx="2972561" cy="4152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375082"/>
              <a:ext cx="12192000" cy="48291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280486-94AE-43BE-86F3-75C96480CC8B}"/>
              </a:ext>
            </a:extLst>
          </p:cNvPr>
          <p:cNvSpPr/>
          <p:nvPr/>
        </p:nvSpPr>
        <p:spPr>
          <a:xfrm>
            <a:off x="284813" y="1364106"/>
            <a:ext cx="4166283" cy="20967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Data Processing</a:t>
            </a:r>
          </a:p>
          <a:p>
            <a:pPr algn="l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sensor data collection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Water quality analysis using graphs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Detection of contamination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AI-based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Continuous monitoring system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6E8BEB-CEB8-CF9E-7CB0-A454F2F1FA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76" y="3707090"/>
            <a:ext cx="4842171" cy="23297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6626C1-1A98-DBCF-B1AE-3DB968231775}"/>
              </a:ext>
            </a:extLst>
          </p:cNvPr>
          <p:cNvSpPr txBox="1"/>
          <p:nvPr/>
        </p:nvSpPr>
        <p:spPr>
          <a:xfrm>
            <a:off x="285915" y="6009927"/>
            <a:ext cx="510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Graph analysis of water quality sensor readings.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7D6237-0689-90DF-65AA-73C36BA36F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397" y="864913"/>
            <a:ext cx="5420481" cy="5191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1068070">
              <a:lnSpc>
                <a:spcPct val="100000"/>
              </a:lnSpc>
              <a:spcBef>
                <a:spcPts val="100"/>
              </a:spcBef>
            </a:pPr>
            <a:r>
              <a:rPr spc="-45"/>
              <a:t>IMPACT</a:t>
            </a:r>
            <a:r>
              <a:rPr spc="-275"/>
              <a:t> </a:t>
            </a:r>
            <a:r>
              <a:t>AND</a:t>
            </a:r>
            <a:r>
              <a:rPr spc="-10"/>
              <a:t> BENEFITS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248" y="141478"/>
            <a:ext cx="1066799" cy="107632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76421"/>
              <a:ext cx="12189714" cy="4792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54762"/>
              <a:ext cx="12192000" cy="50323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0"/>
              <a:t>STARTUP</a:t>
            </a:r>
            <a:r>
              <a:rPr spc="-70"/>
              <a:t> </a:t>
            </a:r>
            <a:r>
              <a:rPr spc="-10"/>
              <a:t>BATTLEFRONT</a:t>
            </a:r>
            <a:r>
              <a:rPr spc="-60"/>
              <a:t> </a:t>
            </a:r>
            <a:r>
              <a:rPr spc="-20"/>
              <a:t>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066512-D248-B4E0-7894-8A835DA800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0" y="1240679"/>
            <a:ext cx="5489628" cy="43213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18854C-F34C-EDAD-A829-ADF1C9E66E5F}"/>
              </a:ext>
            </a:extLst>
          </p:cNvPr>
          <p:cNvSpPr txBox="1"/>
          <p:nvPr/>
        </p:nvSpPr>
        <p:spPr>
          <a:xfrm>
            <a:off x="859074" y="5826610"/>
            <a:ext cx="507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POTENTIAL IMPACT ON TARGET AUDIENCE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9B0849-E80C-EB41-8FA3-9BBADF412A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124" y="1117854"/>
            <a:ext cx="5387908" cy="2599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B3D444-F92E-AAA0-2DEE-7E536931C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744" y="3726421"/>
            <a:ext cx="2713530" cy="24511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633A93-6C29-4393-9CC8-4B1F6545AB8B}"/>
              </a:ext>
            </a:extLst>
          </p:cNvPr>
          <p:cNvSpPr txBox="1"/>
          <p:nvPr/>
        </p:nvSpPr>
        <p:spPr>
          <a:xfrm>
            <a:off x="7940520" y="6085459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Sensor Diagram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00"/>
              </a:spcBef>
              <a:tabLst>
                <a:tab pos="2984500" algn="l"/>
              </a:tabLst>
            </a:pPr>
            <a:r>
              <a:rPr spc="-10"/>
              <a:t>RESEARCH</a:t>
            </a:r>
            <a:r>
              <a:t>	AND</a:t>
            </a:r>
            <a:r>
              <a:rPr spc="-20"/>
              <a:t> </a:t>
            </a:r>
            <a:r>
              <a:rPr spc="-1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7987" y="1241991"/>
            <a:ext cx="10647045" cy="511614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  <a:tabLst>
                <a:tab pos="354965" algn="l"/>
              </a:tabLst>
            </a:pPr>
            <a:endParaRPr lang="en-US" sz="1600" spc="-20" dirty="0">
              <a:solidFill>
                <a:srgbClr val="000000"/>
              </a:solidFill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Kumar, N., Hu, Y., Singh, S., &amp; </a:t>
            </a:r>
            <a:r>
              <a:rPr lang="en-US" sz="1600" spc="-20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Mizaikoff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 B. (2018). Emerging biosensor platforms for the assessment of water-borne pathogens.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Analyst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143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(2), 359-373.</a:t>
            </a: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Hesari, N., Alum, A., Elzein, M., &amp; </a:t>
            </a:r>
            <a:r>
              <a:rPr lang="en-US" sz="1600" spc="-20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Abbaszadegan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 M. (2016). A biosensor platform for rapid detection of E. coli in drinking water.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Enzyme and Microbial Technology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83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 22-28.</a:t>
            </a: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lang="en-US" sz="1600" spc="-20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Fdez-Sanromán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 A., Bernárdez-Rodas, N., Rosales, E., Pazos, M., González-Romero, E., &amp; </a:t>
            </a:r>
            <a:r>
              <a:rPr lang="en-US" sz="1600" spc="-20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Sanromán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 M. Á. (2025). Biosensor technologies for water quality: detection of emerging contaminants and pathogens.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Biosensors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15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(3), 189.</a:t>
            </a: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Knollenberg, R. (1987). The importance of media refractive index in evaluating liquid and surface </a:t>
            </a:r>
            <a:r>
              <a:rPr lang="en-US" sz="1600" spc="-20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microcontamination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 measurements.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The Journal of Environmental Sciences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, </a:t>
            </a:r>
            <a:r>
              <a:rPr lang="en-US" sz="1600" i="1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30</a:t>
            </a:r>
            <a:r>
              <a:rPr lang="en-US" sz="1600" spc="-2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(2), 50-58.</a:t>
            </a: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lang="en-US" sz="1600" spc="-2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Sharma, S., &amp; Bhattacharya, A. J. A. W. S. (2017). Drinking water contamination and treatment techniques. </a:t>
            </a:r>
            <a:r>
              <a:rPr lang="en-US" sz="1600" i="1" spc="-2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Applied water science</a:t>
            </a:r>
            <a:r>
              <a:rPr lang="en-US" sz="1600" spc="-2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, </a:t>
            </a:r>
            <a:r>
              <a:rPr lang="en-US" sz="1600" i="1" spc="-2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7</a:t>
            </a:r>
            <a:r>
              <a:rPr lang="en-US" sz="1600" spc="-2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(3), 1043-1067.</a:t>
            </a: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lang="en-US" sz="1600" spc="-20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 Simulator | CSDT</a:t>
            </a: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endParaRPr lang="en-US" sz="1600" spc="-20" dirty="0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lang="en-US" sz="1600" spc="-20" dirty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hlinkClick r:id="rId3"/>
              </a:rPr>
              <a:t>Best TDS Levels for Drinking Water in India (2026) | RO Care India</a:t>
            </a:r>
            <a:endParaRPr lang="en-US" sz="1600" spc="-20" dirty="0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marL="354965" indent="-342265">
              <a:spcBef>
                <a:spcPts val="95"/>
              </a:spcBef>
              <a:buChar char="•"/>
              <a:tabLst>
                <a:tab pos="354965" algn="l"/>
              </a:tabLst>
            </a:pPr>
            <a:endParaRPr lang="en-US" sz="1600" spc="-20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248" y="141478"/>
            <a:ext cx="1066799" cy="10763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354762"/>
            <a:ext cx="12192000" cy="503555"/>
            <a:chOff x="0" y="6354762"/>
            <a:chExt cx="12192000" cy="50355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376421"/>
              <a:ext cx="12189714" cy="47928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7052" y="6420606"/>
              <a:ext cx="2972561" cy="4351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6354762"/>
              <a:ext cx="12192000" cy="50323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275">
              <a:lnSpc>
                <a:spcPts val="1810"/>
              </a:lnSpc>
            </a:pPr>
            <a:r>
              <a:rPr spc="-20"/>
              <a:t>STARTUP</a:t>
            </a:r>
            <a:r>
              <a:rPr spc="-75"/>
              <a:t> </a:t>
            </a:r>
            <a:r>
              <a:rPr spc="-10"/>
              <a:t>BATTLEFRONT</a:t>
            </a:r>
            <a:r>
              <a:rPr spc="-65"/>
              <a:t> </a:t>
            </a:r>
            <a:r>
              <a:rPr spc="-20"/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570</Words>
  <Application>Microsoft Office PowerPoint</Application>
  <PresentationFormat>Widescreen</PresentationFormat>
  <Paragraphs>96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Nirmala UI</vt:lpstr>
      <vt:lpstr>Times New Roman</vt:lpstr>
      <vt:lpstr>Office Theme</vt:lpstr>
      <vt:lpstr>PowerPoint Presentation</vt:lpstr>
      <vt:lpstr>Smart Detection for Unsafe Water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Goutam Gotur</dc:creator>
  <cp:lastModifiedBy>Goutam Gotur</cp:lastModifiedBy>
  <cp:revision>77</cp:revision>
  <dcterms:created xsi:type="dcterms:W3CDTF">2026-05-04T17:38:29Z</dcterms:created>
  <dcterms:modified xsi:type="dcterms:W3CDTF">2026-05-09T03:47:13Z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2026-05-04T00:00:00Z</vt:filetime>
  </property>
  <property fmtid="{D5CDD505-2E9C-101B-9397-08002B2CF9AE}" pid="5" name="Producer">
    <vt:lpwstr>Microsoft® PowerPoint® 2021</vt:lpwstr>
  </property>
</Properties>
</file>